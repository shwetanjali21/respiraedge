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E600"/>
                </a:solidFill>
              </a:defRPr>
            </a:pPr>
            <a:r>
              <a:t>RespiraEdge</a:t>
            </a:r>
          </a:p>
          <a:p>
            <a:pPr>
              <a:spcBef>
                <a:spcPts val="1200"/>
              </a:spcBef>
              <a:defRPr sz="2200">
                <a:solidFill>
                  <a:srgbClr val="F5F5F7"/>
                </a:solidFill>
              </a:defRPr>
            </a:pPr>
            <a:r>
              <a:t>On-Device Edge AI for Autonomous Respiratory Distress &amp; Apnea Detection</a:t>
            </a:r>
          </a:p>
          <a:p>
            <a:pPr>
              <a:spcBef>
                <a:spcPts val="3600"/>
              </a:spcBef>
              <a:defRPr sz="1400">
                <a:solidFill>
                  <a:srgbClr val="B4B4BE"/>
                </a:solidFill>
              </a:defRPr>
            </a:pPr>
            <a:r>
              <a:t>Presenter: Shwetanjali Gautam  |  Domain: Embedded Systems, Edge AI &amp; Medical IoT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E600"/>
                </a:solidFill>
              </a:defRPr>
            </a:pPr>
            <a:r>
              <a:t>Executive Summary: Cloud vs. Edge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E600"/>
                </a:solidFill>
              </a:defRPr>
            </a:pPr>
            <a:r>
              <a:t>The Problem with Cloud-Based Health IoT:</a:t>
            </a:r>
          </a:p>
          <a:p>
            <a:pPr>
              <a:spcBef>
                <a:spcPts val="600"/>
              </a:spcBef>
              <a:defRPr sz="1400">
                <a:solidFill>
                  <a:srgbClr val="F5F5F7"/>
                </a:solidFill>
              </a:defRPr>
            </a:pPr>
            <a:r>
              <a:t>• High Latency: Round-trip delays prevent instant response during acute respiratory events.</a:t>
            </a:r>
          </a:p>
          <a:p>
            <a:pPr>
              <a:spcBef>
                <a:spcPts val="600"/>
              </a:spcBef>
              <a:defRPr sz="1400">
                <a:solidFill>
                  <a:srgbClr val="F5F5F7"/>
                </a:solidFill>
              </a:defRPr>
            </a:pPr>
            <a:r>
              <a:t>• Privacy Risks: Transmitting sensitive patient bio-signals over public networks.</a:t>
            </a:r>
          </a:p>
          <a:p>
            <a:pPr>
              <a:spcBef>
                <a:spcPts val="600"/>
              </a:spcBef>
              <a:defRPr sz="1400">
                <a:solidFill>
                  <a:srgbClr val="F5F5F7"/>
                </a:solidFill>
              </a:defRPr>
            </a:pPr>
            <a:r>
              <a:t>• Connectivity Dependency: System failure during network outages or poor reception.</a:t>
            </a:r>
          </a:p>
          <a:p>
            <a:br/>
            <a:pPr>
              <a:spcBef>
                <a:spcPts val="1600"/>
              </a:spcBef>
              <a:defRPr sz="1800" b="1">
                <a:solidFill>
                  <a:srgbClr val="FFE600"/>
                </a:solidFill>
              </a:defRPr>
            </a:pPr>
            <a:r>
              <a:t>The RespiraEdge Solution:</a:t>
            </a:r>
          </a:p>
          <a:p>
            <a:pPr>
              <a:spcBef>
                <a:spcPts val="600"/>
              </a:spcBef>
              <a:defRPr sz="1400">
                <a:solidFill>
                  <a:srgbClr val="F5F5F7"/>
                </a:solidFill>
              </a:defRPr>
            </a:pPr>
            <a:r>
              <a:t>• 100% On-Device Neural Network running directly on an ESP32 microcontroller.</a:t>
            </a:r>
          </a:p>
          <a:p>
            <a:pPr>
              <a:spcBef>
                <a:spcPts val="600"/>
              </a:spcBef>
              <a:defRPr sz="1400">
                <a:solidFill>
                  <a:srgbClr val="F5F5F7"/>
                </a:solidFill>
              </a:defRPr>
            </a:pPr>
            <a:r>
              <a:t>• Sub-millisecond latency (200 to 400 microseconds execution time).</a:t>
            </a:r>
          </a:p>
          <a:p>
            <a:pPr>
              <a:spcBef>
                <a:spcPts val="600"/>
              </a:spcBef>
              <a:defRPr sz="1400">
                <a:solidFill>
                  <a:srgbClr val="F5F5F7"/>
                </a:solidFill>
              </a:defRPr>
            </a:pPr>
            <a:r>
              <a:t>• Autonomous local closed-loop actuation with zero cloud dependency.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E600"/>
                </a:solidFill>
              </a:defRPr>
            </a:pPr>
            <a:r>
              <a:t>Hardware Circuit Layout &amp; Pin Connections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62179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640"/>
                <a:gridCol w="2072640"/>
                <a:gridCol w="2072640"/>
              </a:tblGrid>
              <a:tr h="7924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2E2E38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FFE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2E2E38"/>
                          </a:solidFill>
                        </a:defRPr>
                      </a:pPr>
                      <a:r>
                        <a:t>Pin</a:t>
                      </a:r>
                    </a:p>
                  </a:txBody>
                  <a:tcPr>
                    <a:solidFill>
                      <a:srgbClr val="FFE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2E2E38"/>
                          </a:solidFill>
                        </a:defRPr>
                      </a:pPr>
                      <a:r>
                        <a:t>Technical Function</a:t>
                      </a:r>
                    </a:p>
                  </a:txBody>
                  <a:tcPr>
                    <a:solidFill>
                      <a:srgbClr val="FFE600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</a:defRPr>
                      </a:pPr>
                      <a:r>
                        <a:t>DHT22 Sensor</a:t>
                      </a:r>
                    </a:p>
                  </a:txBody>
                  <a:tcPr>
                    <a:solidFill>
                      <a:srgbClr val="3C3C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</a:defRPr>
                      </a:pPr>
                      <a:r>
                        <a:t>GPIO 4</a:t>
                      </a:r>
                    </a:p>
                  </a:txBody>
                  <a:tcPr>
                    <a:solidFill>
                      <a:srgbClr val="3C3C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</a:defRPr>
                      </a:pPr>
                      <a:r>
                        <a:t>Monitors ambient humidity (%) &amp; temp (°C)</a:t>
                      </a:r>
                    </a:p>
                  </a:txBody>
                  <a:tcPr>
                    <a:solidFill>
                      <a:srgbClr val="3C3C4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</a:defRPr>
                      </a:pPr>
                      <a:r>
                        <a:t>Potentiometer</a:t>
                      </a:r>
                    </a:p>
                  </a:txBody>
                  <a:tcPr>
                    <a:solidFill>
                      <a:srgbClr val="3C3C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</a:defRPr>
                      </a:pPr>
                      <a:r>
                        <a:t>GPIO 36</a:t>
                      </a:r>
                    </a:p>
                  </a:txBody>
                  <a:tcPr>
                    <a:solidFill>
                      <a:srgbClr val="3C3C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</a:defRPr>
                      </a:pPr>
                      <a:r>
                        <a:t>Simulates continuous audio RMS energy stream</a:t>
                      </a:r>
                    </a:p>
                  </a:txBody>
                  <a:tcPr>
                    <a:solidFill>
                      <a:srgbClr val="3C3C4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</a:defRPr>
                      </a:pPr>
                      <a:r>
                        <a:t>Relay Module</a:t>
                      </a:r>
                    </a:p>
                  </a:txBody>
                  <a:tcPr>
                    <a:solidFill>
                      <a:srgbClr val="3C3C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</a:defRPr>
                      </a:pPr>
                      <a:r>
                        <a:t>GPIO 25</a:t>
                      </a:r>
                    </a:p>
                  </a:txBody>
                  <a:tcPr>
                    <a:solidFill>
                      <a:srgbClr val="3C3C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</a:defRPr>
                      </a:pPr>
                      <a:r>
                        <a:t>Actuates emergency humidifier / valve</a:t>
                      </a:r>
                    </a:p>
                  </a:txBody>
                  <a:tcPr>
                    <a:solidFill>
                      <a:srgbClr val="3C3C4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</a:defRPr>
                      </a:pPr>
                      <a:r>
                        <a:t>Piezo Buzzer</a:t>
                      </a:r>
                    </a:p>
                  </a:txBody>
                  <a:tcPr>
                    <a:solidFill>
                      <a:srgbClr val="3C3C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</a:defRPr>
                      </a:pPr>
                      <a:r>
                        <a:t>GPIO 26</a:t>
                      </a:r>
                    </a:p>
                  </a:txBody>
                  <a:tcPr>
                    <a:solidFill>
                      <a:srgbClr val="3C3C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</a:defRPr>
                      </a:pPr>
                      <a:r>
                        <a:t>Audible alarm indicator for distress states</a:t>
                      </a:r>
                    </a:p>
                  </a:txBody>
                  <a:tcPr>
                    <a:solidFill>
                      <a:srgbClr val="3C3C4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</a:defRPr>
                      </a:pPr>
                      <a:r>
                        <a:t>Red LED</a:t>
                      </a:r>
                    </a:p>
                  </a:txBody>
                  <a:tcPr>
                    <a:solidFill>
                      <a:srgbClr val="3C3C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</a:defRPr>
                      </a:pPr>
                      <a:r>
                        <a:t>GPIO 33</a:t>
                      </a:r>
                    </a:p>
                  </a:txBody>
                  <a:tcPr>
                    <a:solidFill>
                      <a:srgbClr val="3C3C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7"/>
                          </a:solidFill>
                        </a:defRPr>
                      </a:pPr>
                      <a:r>
                        <a:t>Visual alert indicator</a:t>
                      </a:r>
                    </a:p>
                  </a:txBody>
                  <a:tcPr>
                    <a:solidFill>
                      <a:srgbClr val="3C3C48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Screenshot 2026-08-29 144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463040"/>
            <a:ext cx="4206240" cy="33553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E600"/>
                </a:solidFill>
              </a:defRPr>
            </a:pPr>
            <a:r>
              <a:t>On-Device Neural Network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1500">
                <a:solidFill>
                  <a:srgbClr val="F5F5F7"/>
                </a:solidFill>
              </a:defRPr>
            </a:pPr>
            <a:r>
              <a:t>• Offline Model Training (RespiraEdge.ipynb): Multi-layer feedforward ANN trained in Python.</a:t>
            </a:r>
          </a:p>
          <a:p>
            <a:pPr>
              <a:spcBef>
                <a:spcPts val="1400"/>
              </a:spcBef>
              <a:defRPr sz="1500">
                <a:solidFill>
                  <a:srgbClr val="F5F5F7"/>
                </a:solidFill>
              </a:defRPr>
            </a:pPr>
            <a:r>
              <a:t>• C Weight Export (model_weights.h): Weights &amp; biases converted to static C floating-point matrices.</a:t>
            </a:r>
          </a:p>
          <a:p>
            <a:pPr>
              <a:spcBef>
                <a:spcPts val="1400"/>
              </a:spcBef>
              <a:defRPr sz="1500">
                <a:solidFill>
                  <a:srgbClr val="F5F5F7"/>
                </a:solidFill>
              </a:defRPr>
            </a:pPr>
            <a:r>
              <a:t>• Embedded Inference (sketch.ino): Execution via forward propagation: y = ReLU(W · x + b).</a:t>
            </a:r>
          </a:p>
          <a:p>
            <a:pPr>
              <a:spcBef>
                <a:spcPts val="1400"/>
              </a:spcBef>
              <a:defRPr sz="1500">
                <a:solidFill>
                  <a:srgbClr val="F5F5F7"/>
                </a:solidFill>
              </a:defRPr>
            </a:pPr>
            <a:r>
              <a:t>• Network Topology: 4 Feature Inputs → 16 Neurons (ReLU) → 8 Neurons (ReLU) → 3 Classes.</a:t>
            </a:r>
          </a:p>
          <a:p>
            <a:pPr>
              <a:spcBef>
                <a:spcPts val="1400"/>
              </a:spcBef>
              <a:defRPr sz="1500">
                <a:solidFill>
                  <a:srgbClr val="F5F5F7"/>
                </a:solidFill>
              </a:defRPr>
            </a:pPr>
            <a:r>
              <a:t>• Class Outputs: [0: Normal State]  |  [1: Wheezing Distress]  |  [2: Apnea Event]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E600"/>
                </a:solidFill>
              </a:defRPr>
            </a:pPr>
            <a:r>
              <a:t>Performance Metrics &amp;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E600"/>
                </a:solidFill>
              </a:defRPr>
            </a:pPr>
            <a:r>
              <a:t>Key System Metrics:</a:t>
            </a:r>
          </a:p>
          <a:p>
            <a:pPr>
              <a:spcBef>
                <a:spcPts val="500"/>
              </a:spcBef>
              <a:defRPr sz="1400">
                <a:solidFill>
                  <a:srgbClr val="F5F5F7"/>
                </a:solidFill>
              </a:defRPr>
            </a:pPr>
            <a:r>
              <a:t>• Inference Speed: Sub-millisecond execution time (200-400 µs per prediction).</a:t>
            </a:r>
          </a:p>
          <a:p>
            <a:pPr>
              <a:spcBef>
                <a:spcPts val="500"/>
              </a:spcBef>
              <a:defRPr sz="1400">
                <a:solidFill>
                  <a:srgbClr val="F5F5F7"/>
                </a:solidFill>
              </a:defRPr>
            </a:pPr>
            <a:r>
              <a:t>• Data Privacy: Bio-signals processed 100% locally with zero transmission.</a:t>
            </a:r>
          </a:p>
          <a:p>
            <a:pPr>
              <a:spcBef>
                <a:spcPts val="500"/>
              </a:spcBef>
              <a:defRPr sz="1400">
                <a:solidFill>
                  <a:srgbClr val="F5F5F7"/>
                </a:solidFill>
              </a:defRPr>
            </a:pPr>
            <a:r>
              <a:t>• Hardware Overhead: Cost-effective design operating on standard ESP32 MCU.</a:t>
            </a:r>
          </a:p>
          <a:p>
            <a:br/>
            <a:pPr>
              <a:spcBef>
                <a:spcPts val="1600"/>
              </a:spcBef>
              <a:defRPr sz="1800" b="1">
                <a:solidFill>
                  <a:srgbClr val="FFE600"/>
                </a:solidFill>
              </a:defRPr>
            </a:pPr>
            <a:r>
              <a:t>Future Scope:</a:t>
            </a:r>
          </a:p>
          <a:p>
            <a:pPr>
              <a:spcBef>
                <a:spcPts val="500"/>
              </a:spcBef>
              <a:defRPr sz="1400">
                <a:solidFill>
                  <a:srgbClr val="F5F5F7"/>
                </a:solidFill>
              </a:defRPr>
            </a:pPr>
            <a:r>
              <a:t>• Digital Microphone Integration: Replace potentiometer with INMP441 MEMS mic via I2S.</a:t>
            </a:r>
          </a:p>
          <a:p>
            <a:pPr>
              <a:spcBef>
                <a:spcPts val="500"/>
              </a:spcBef>
              <a:defRPr sz="1400">
                <a:solidFill>
                  <a:srgbClr val="F5F5F7"/>
                </a:solidFill>
              </a:defRPr>
            </a:pPr>
            <a:r>
              <a:t>• INT8 Quantization: Convert float weights to fixed-point integers for faster execution.</a:t>
            </a:r>
          </a:p>
          <a:p>
            <a:pPr>
              <a:spcBef>
                <a:spcPts val="500"/>
              </a:spcBef>
              <a:defRPr sz="1400">
                <a:solidFill>
                  <a:srgbClr val="F5F5F7"/>
                </a:solidFill>
              </a:defRPr>
            </a:pPr>
            <a:r>
              <a:t>• BLE Alerts: Broadcast Bluetooth Low Energy signals to notify local health responders.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